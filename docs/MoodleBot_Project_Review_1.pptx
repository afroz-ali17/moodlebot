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731520"/>
            <a:ext cx="5760720" cy="41148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749808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1F5F9"/>
                </a:solidFill>
                <a:latin typeface="Calibri"/>
              </a:defRPr>
            </a:pPr>
            <a:r>
              <a:t>🎓  1st Project Review — Department of CSE (AI &amp; ML)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1F5F9"/>
                </a:solidFill>
                <a:latin typeface="Calibri"/>
              </a:defRPr>
            </a:pPr>
            <a:r>
              <a:t>MoodleBot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An Intelligent Multi-Subject Educational Chatbot Powered by</a:t>
            </a:r>
            <a:br/>
            <a:r>
              <a:t>Retrieval-Augmented Generation (RAG) Integrated into Moodle LMS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3474720"/>
            <a:ext cx="2194560" cy="137160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3566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1F5F9"/>
                </a:solidFill>
                <a:latin typeface="Calibri"/>
              </a:defRPr>
            </a:pPr>
            <a:r>
              <a:t>M. Sumanth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3886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23091A3351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4160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RAG Pipeline &amp; 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3474720"/>
            <a:ext cx="2194560" cy="137160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3566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1F5F9"/>
                </a:solidFill>
                <a:latin typeface="Calibri"/>
              </a:defRPr>
            </a:pPr>
            <a:r>
              <a:t>P. Umesh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886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23091A3359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4160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Moodle LMS 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59" y="3474720"/>
            <a:ext cx="2194560" cy="137160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59" y="3566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1F5F9"/>
                </a:solidFill>
                <a:latin typeface="Calibri"/>
              </a:defRPr>
            </a:pPr>
            <a:r>
              <a:t>P. Afroz Ali Khan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59" y="3886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24095A3301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59" y="4160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Data Eng. &amp;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Project Guide: Dr. G. Kishor Kumar, Professor, Dept. of CSE (AI &amp; ML), RGMCET (Autonomous), Nandyal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Rajeev Gandhi Memorial College of Engineering and Technology (Autonomous), Nandyal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B6D4"/>
                </a:solidFill>
                <a:latin typeface="Calibri"/>
              </a:defRPr>
            </a:pPr>
            <a:r>
              <a:t>Natural Language Processing  •  Vector Embeddings  •  LLM Inference  •  Moodle LMS  •  FastAPI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66F1"/>
                </a:solidFill>
                <a:latin typeface="Calibri"/>
              </a:defRPr>
            </a:pPr>
            <a:r>
              <a:t>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Modern engineering students face a persistent challenge: accessing precise, contextually relevant academic guidance outside classroom hours. Traditional chatbots rely on generic internet knowledge and frequently hallucinate inaccurate information, undermining trust in AI-assisted learning.</a:t>
            </a:r>
          </a:p>
          <a:p>
            <a:pPr>
              <a:spcBef>
                <a:spcPts val="600"/>
              </a:spcBef>
              <a:defRPr sz="600" b="0">
                <a:solidFill>
                  <a:srgbClr val="F1F5F9"/>
                </a:solidFill>
                <a:latin typeface="Calibri"/>
              </a:defRPr>
            </a:pPr>
          </a:p>
          <a:p>
            <a:pPr>
              <a:spcBef>
                <a:spcPts val="1000"/>
              </a:spcBef>
              <a:defRPr sz="1300" b="0">
                <a:solidFill>
                  <a:srgbClr val="F1F5F9"/>
                </a:solidFill>
                <a:latin typeface="Calibri"/>
              </a:defRPr>
            </a:pPr>
            <a:r>
              <a:t>MoodleBot addresses this by implementing a Retrieval-Augmented Generation (RAG) architecture that grounds every response exclusively in the institution's own course materials — lecture slides, syllabus PDFs, and faculty notes — guaranteeing factually accurate, citation-backed explanations.</a:t>
            </a:r>
          </a:p>
          <a:p>
            <a:pPr>
              <a:spcBef>
                <a:spcPts val="600"/>
              </a:spcBef>
              <a:defRPr sz="600" b="0">
                <a:solidFill>
                  <a:srgbClr val="F1F5F9"/>
                </a:solidFill>
                <a:latin typeface="Calibri"/>
              </a:defRPr>
            </a:pPr>
          </a:p>
          <a:p>
            <a:pPr>
              <a:spcBef>
                <a:spcPts val="10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The system integrates a ChromaDB vector store (2,527 embedded knowledge chunks from 93 course files across 18 academic subjects), a Sentence-BERT embedding model (all-MiniLM-L6-v2) for semantic retrieval, and a cloud-hosted LLM (Qwen 2.5 27B via Groq) for grounded generation — all served through a FastAPI REST backend with an interactive web interface and a planned Moodle LMS plugin for in-platform embedding.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46320"/>
            <a:ext cx="2468880" cy="118872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6366F1"/>
                </a:solidFill>
                <a:latin typeface="Calibri"/>
              </a:defRPr>
            </a:pPr>
            <a:r>
              <a:t>93.1%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Strict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4846320"/>
            <a:ext cx="2468880" cy="118872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4937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6366F1"/>
                </a:solidFill>
                <a:latin typeface="Calibri"/>
              </a:defRPr>
            </a:pPr>
            <a:r>
              <a:t>96.6%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5577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Lenient 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846320"/>
            <a:ext cx="2468880" cy="118872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937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6366F1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577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Hallucination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4846320"/>
            <a:ext cx="2468880" cy="118872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4937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6366F1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5577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Academic Subjects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66F1"/>
                </a:solidFill>
                <a:latin typeface="Calibri"/>
              </a:defRPr>
            </a:pPr>
            <a:r>
              <a:t>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Literature Survey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2377440" cy="36576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1F5F9"/>
                </a:solidFill>
                <a:latin typeface="Calibri"/>
              </a:defRPr>
            </a:pPr>
            <a:r>
              <a:t>Study /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280160"/>
            <a:ext cx="2926080" cy="36576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12984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1F5F9"/>
                </a:solidFill>
                <a:latin typeface="Calibri"/>
              </a:defRPr>
            </a:pPr>
            <a:r>
              <a:t>Approach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280160"/>
            <a:ext cx="2926080" cy="36576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2984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1F5F9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1280160"/>
            <a:ext cx="2834640" cy="36576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298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1F5F9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737360"/>
            <a:ext cx="21945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1F5F9"/>
                </a:solidFill>
                <a:latin typeface="Calibri"/>
              </a:defRPr>
            </a:pPr>
            <a:r>
              <a:t>Lewis et al. (2020) — 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1737360"/>
            <a:ext cx="27432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Retrieval-Augmented Generation combining BERT retriever with BART generator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737360"/>
            <a:ext cx="27432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Reduces hallucination by 40-60% vs vanilla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1737360"/>
            <a:ext cx="26517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Evaluated on open-domain QA; not adapted for institutional curricula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606039"/>
            <a:ext cx="21945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1F5F9"/>
                </a:solidFill>
                <a:latin typeface="Calibri"/>
              </a:defRPr>
            </a:pPr>
            <a:r>
              <a:t>Gao et al. (2024) — RAG Survey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2606039"/>
            <a:ext cx="27432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Comprehensive survey covering Naive, Advanced, and Modular RAG paradigms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606039"/>
            <a:ext cx="27432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Chunking strategy and retrieval precision critical for domain 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606039"/>
            <a:ext cx="26517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Recommends but does not implement institutional-grade grounding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474720"/>
            <a:ext cx="21945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1F5F9"/>
                </a:solidFill>
                <a:latin typeface="Calibri"/>
              </a:defRPr>
            </a:pPr>
            <a:r>
              <a:t>Sentence-BERT (Reimers, 2019)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3474720"/>
            <a:ext cx="27432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Siamese BERT networks for semantically meaningful sentence embeddings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474720"/>
            <a:ext cx="27432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Enables fast cosine-similarity search with strong semantic matching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3474720"/>
            <a:ext cx="26517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all-MiniLM-L6-v2 trades depth for speed; may miss highly technical content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343400"/>
            <a:ext cx="21945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1F5F9"/>
                </a:solidFill>
                <a:latin typeface="Calibri"/>
              </a:defRPr>
            </a:pPr>
            <a:r>
              <a:t>ChromaDB (2023)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4343400"/>
            <a:ext cx="27432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Open-source embedded vector store with metadata filtering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343400"/>
            <a:ext cx="27432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Lightweight, zero-config, supports topic-based scoped queries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4343400"/>
            <a:ext cx="26517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Single-node; not designed for distributed multi-tenant deployments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212079"/>
            <a:ext cx="21945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1F5F9"/>
                </a:solidFill>
                <a:latin typeface="Calibri"/>
              </a:defRPr>
            </a:pPr>
            <a:r>
              <a:t>Moodle LMS Chatbot Plugins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5212079"/>
            <a:ext cx="27432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Existing plugins: block_chatbot, mod_dialogue (rule-based FAQ)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5212079"/>
            <a:ext cx="27432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Basic keyword search within course forums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5212079"/>
            <a:ext cx="26517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No semantic understanding; cannot synthesize multi-document explanations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66F1"/>
                </a:solidFill>
                <a:latin typeface="Calibri"/>
              </a:defRPr>
            </a:pPr>
            <a:r>
              <a:t>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Research Gaps Identified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94960" cy="201168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1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Calibri"/>
              </a:defRPr>
            </a:pPr>
            <a:r>
              <a:t>🚫  Gap 1: No Curriculum-Grounded Educational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Existing RAG systems target open-domain QA using Wikipedia or web corpora. No published system implements RAG grounded exclusively in an institution's own lecture slides, syllabi, and faculty-authored course notes.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94960" cy="201168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1731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Calibri"/>
              </a:defRPr>
            </a:pPr>
            <a:r>
              <a:t>📚  Gap 2: Single-Subject Limitation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74519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Prior educational chatbot prototypes are designed for a single course. Students pursuing multi-disciplinary degrees need cross-curricular support across 18+ subjects simultaneously.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66160"/>
            <a:ext cx="5394960" cy="201168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03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Calibri"/>
              </a:defRPr>
            </a:pPr>
            <a:r>
              <a:t>🔗  Gap 3: No LMS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605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General-purpose AI assistants operate outside the student's learning environment. No published work embeds a RAG-based academic assistant directly inside Moodle LMS course pages.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566160"/>
            <a:ext cx="5394960" cy="201168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703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Calibri"/>
              </a:defRPr>
            </a:pPr>
            <a:r>
              <a:t>🎯  Gap 4: Hallucination in Educational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1605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Generic LLMs hallucinate 15-30% of factual claims. In educational contexts, a single hallucinated definition causes cascading misunderstanding. No existing Moodle chatbot enforces strict context-only generation.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8521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Our Contribution: MoodleBot fills all four gaps — grounded in RGMCET's own 93 course files, supporting 18 subjects, integrated into Moodle LMS, and achieving 0% hallucination rate.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66F1"/>
                </a:solidFill>
                <a:latin typeface="Calibri"/>
              </a:defRPr>
            </a:pPr>
            <a:r>
              <a:t>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1064240" cy="146304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F5F9"/>
                </a:solidFill>
                <a:latin typeface="Calibri"/>
              </a:defRPr>
            </a:pPr>
            <a:r>
              <a:t>Engineering students at RGMCET lack access to an intelligent, always-available academic assistant that can provide accurate, curriculum-specific explanations grounded in their actual course materials. Existing solutions — generic AI chatbots, search engines, or peer forums — suffer from hallucinated content, lack of source traceability, absence of multi-subject support, and zero integration with the institutional Learning Management System (Moodle).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3474720" cy="256032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Calibri"/>
              </a:defRPr>
            </a:pPr>
            <a:r>
              <a:t>⏰  Limited Faculty Availability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033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Students can only interact with faculty during office hours. Doubts arising during self-study, evenings, weekends, and exam prep go unanswered for hours or days.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3108960"/>
            <a:ext cx="3474720" cy="256032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3246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Calibri"/>
              </a:defRPr>
            </a:pPr>
            <a:r>
              <a:t>🤥  AI Hallucination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37033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Generic LLMs produce plausible but factually incorrect explanations that students cannot verify, leading to learning damage during exam preparation.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3108960"/>
            <a:ext cx="3474720" cy="256032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9" y="3246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Calibri"/>
              </a:defRPr>
            </a:pPr>
            <a:r>
              <a:t>🔍  No Source Traceability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37033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Students need to know which lecture note, slide, or unit a concept originates from — for trust and deeper study. Generic AI provides no citations.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66F1"/>
                </a:solidFill>
                <a:latin typeface="Calibri"/>
              </a:defRPr>
            </a:pPr>
            <a:r>
              <a:t>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94960" cy="146304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0800" cy="14630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898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Calibri"/>
              </a:defRPr>
            </a:pPr>
            <a:r>
              <a:t>O1. Build Curriculum-Grounded RAG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Design and implement a RAG pipeline grounded in the institution's own course materials — targeting ≥ 88% accuracy on a ground-truth benchmark.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394960" cy="146304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0800" cy="1463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3898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Calibri"/>
              </a:defRPr>
            </a:pPr>
            <a:r>
              <a:t>O2. Universal Multi-Subject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78308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Support the complete RGMCET CSE (AI&amp;ML) curriculum across 18+ subjects with dynamic subject-scoped retrieval.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71800"/>
            <a:ext cx="5394960" cy="146304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71800"/>
            <a:ext cx="50800" cy="1463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8152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Calibri"/>
              </a:defRPr>
            </a:pPr>
            <a:r>
              <a:t>O3. Moodle LMS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7472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Embed MoodleBot as a native plugin inside Moodle course pages with automatic course-context awareness.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971800"/>
            <a:ext cx="5394960" cy="146304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971800"/>
            <a:ext cx="5080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08152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Calibri"/>
              </a:defRPr>
            </a:pPr>
            <a:r>
              <a:t>O4. Rigorous Empirical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2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Validate through automated batch testing, human-graded scoring, and iterative hyperparameter tuning with documented evidence.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63440"/>
            <a:ext cx="5394960" cy="146304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663440"/>
            <a:ext cx="50800" cy="14630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77316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Calibri"/>
              </a:defRPr>
            </a:pPr>
            <a:r>
              <a:t>O5. Zero Hallucination Guarantee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66359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Enforce strict context-only generation through system prompt engineering. Target: 0% hallucination rate.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663440"/>
            <a:ext cx="5394960" cy="146304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663440"/>
            <a:ext cx="50800" cy="1463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77316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Calibri"/>
              </a:defRPr>
            </a:pPr>
            <a:r>
              <a:t>O6. Student Adoption Research (TAM)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166359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Assess student satisfaction using the Technology Acceptance Model — measuring perceived usefulness, ease of use, and intent.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66F1"/>
                </a:solidFill>
                <a:latin typeface="Calibri"/>
              </a:defRPr>
            </a:pPr>
            <a:r>
              <a:t>SLIDE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Proposed System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474720" cy="228600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Calibri"/>
              </a:defRPr>
            </a:pPr>
            <a:r>
              <a:t>📄  M1. Data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prepare_data.py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Extracts text from raw PDFs, PPTX, DOCX. Applies OCR fallback, Unicode cleanup, topic-slug auto-tagging.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280160"/>
            <a:ext cx="3474720" cy="228600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Calibri"/>
              </a:defRPr>
            </a:pPr>
            <a:r>
              <a:t>🧬  M2. Embedding &amp;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1737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ingest.py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1031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Chunks text (200w window, 40w overlap), embeds with MiniLM-L6-v2, stores 2,527 vectors in ChromaDB.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280160"/>
            <a:ext cx="3474720" cy="228600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9" y="13898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Calibri"/>
              </a:defRPr>
            </a:pPr>
            <a:r>
              <a:t>🔍  M3. RAG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1737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rag_chain.py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21031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Semantic retrieval (TOP_K=4) with subject metadata filtering → context assembly → grounded LLM generation.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86200"/>
            <a:ext cx="3474720" cy="228600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959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Calibri"/>
              </a:defRPr>
            </a:pPr>
            <a:r>
              <a:t>⚡  M4. API 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43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main.py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0916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FastAPI server: POST /chat (Q&amp;A), GET /subjects (18 subjects), GET /health, GET / (web UI).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79" y="3886200"/>
            <a:ext cx="3474720" cy="228600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39959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Calibri"/>
              </a:defRPr>
            </a:pPr>
            <a:r>
              <a:t>🖥️  M5. Web Interface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4343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static/index.html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470916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Dark-mode chat UI with subject scope selector, sidebar browser, prompt chips, markdown rendering.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9" y="3886200"/>
            <a:ext cx="3474720" cy="228600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9" y="39959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Calibri"/>
              </a:defRPr>
            </a:pPr>
            <a:r>
              <a:t>📊  M6. Evaluation Suite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9" y="4343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evaluate.py, score.py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9" y="470916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Automated batch evaluation with rate-limiting, human grading, and side-by-side accuracy comparison.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66F1"/>
                </a:solidFill>
                <a:latin typeface="Calibri"/>
              </a:defRPr>
            </a:pPr>
            <a:r>
              <a:t>SLIDE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RAG Pipeline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alibri"/>
              </a:defRPr>
            </a:pPr>
            <a:r>
              <a:t>OFFLINE INGESTION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920240" cy="100584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1F5F9"/>
                </a:solidFill>
                <a:latin typeface="Calibri"/>
              </a:defRPr>
            </a:pPr>
            <a:r>
              <a:t>📄 Raw Course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93 PDFs/PPTX/DOCX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366F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691640"/>
            <a:ext cx="1920240" cy="100584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7373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1F5F9"/>
                </a:solidFill>
                <a:latin typeface="Calibri"/>
              </a:defRPr>
            </a:pPr>
            <a:r>
              <a:t>🔧 prepare_data.py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103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Text 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366F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691640"/>
            <a:ext cx="1920240" cy="100584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7373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1F5F9"/>
                </a:solidFill>
                <a:latin typeface="Calibri"/>
              </a:defRPr>
            </a:pPr>
            <a:r>
              <a:t>✂️ ingest.py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103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Chunk (200w/40w)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79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366F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691640"/>
            <a:ext cx="1920240" cy="100584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17373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1F5F9"/>
                </a:solidFill>
                <a:latin typeface="Calibri"/>
              </a:defRPr>
            </a:pPr>
            <a:r>
              <a:t>🧬 Sentence-BERT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103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all-MiniLM-L6-v2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366F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1691640"/>
            <a:ext cx="1920240" cy="100584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17373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1F5F9"/>
                </a:solidFill>
                <a:latin typeface="Calibri"/>
              </a:defRPr>
            </a:pPr>
            <a:r>
              <a:t>🗄️ ChromaDB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103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2,527 vectors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ONLINE QUERY PIPELINE (REAL-TIME)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3429000"/>
            <a:ext cx="1691640" cy="100584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347472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F5F9"/>
                </a:solidFill>
                <a:latin typeface="Calibri"/>
              </a:defRPr>
            </a:pPr>
            <a:r>
              <a:t>💬 Student Query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38404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"What is 3NF?"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40279" y="3429000"/>
            <a:ext cx="1691640" cy="100584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40279" y="347472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F5F9"/>
                </a:solidFill>
                <a:latin typeface="Calibri"/>
              </a:defRPr>
            </a:pPr>
            <a:r>
              <a:t>🧬 Embed Query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79" y="38404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MiniLM-L6-v2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06240" y="3429000"/>
            <a:ext cx="1691640" cy="100584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0" y="347472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F5F9"/>
                </a:solidFill>
                <a:latin typeface="Calibri"/>
              </a:defRPr>
            </a:pPr>
            <a:r>
              <a:t>🔍 Semantic Search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38404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ChromaDB (TOP_K=4)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79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199" y="3429000"/>
            <a:ext cx="1691640" cy="100584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199" y="347472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F5F9"/>
                </a:solidFill>
                <a:latin typeface="Calibri"/>
              </a:defRPr>
            </a:pPr>
            <a:r>
              <a:t>📋 Context Assembly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199" y="38404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Ranked Chunks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3429000"/>
            <a:ext cx="1691640" cy="100584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347472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F5F9"/>
                </a:solidFill>
                <a:latin typeface="Calibri"/>
              </a:defRPr>
            </a:pPr>
            <a:r>
              <a:t>🤖 LLM Generation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38404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Qwen 2.5 27B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2980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104120" y="3429000"/>
            <a:ext cx="1691640" cy="100584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04120" y="347472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1F5F9"/>
                </a:solidFill>
                <a:latin typeface="Calibri"/>
              </a:defRPr>
            </a:pPr>
            <a:r>
              <a:t>✅ Grounded Answer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04120" y="38404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+ Source Citations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KEY DESIGN DECISIONS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02920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 Chunking: 200-word sliding window with 40-word overlap — no definition split at boundaries</a:t>
            </a:r>
          </a:p>
          <a:p>
            <a:pPr>
              <a:spcBef>
                <a:spcPts val="4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 Subject-Scoped Retrieval: Optional metadata filter prevents cross-course contamination</a:t>
            </a:r>
          </a:p>
          <a:p>
            <a:pPr>
              <a:spcBef>
                <a:spcPts val="4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 System Prompt: Enforces strict 'context-only' generation with structured Markdown output</a:t>
            </a:r>
          </a:p>
          <a:p>
            <a:pPr>
              <a:spcBef>
                <a:spcPts val="4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▸  Fallback Handling: Auto 413 truncation, rate-limit backoff, and model failover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66F1"/>
                </a:solidFill>
                <a:latin typeface="Calibri"/>
              </a:defRPr>
            </a:pPr>
            <a:r>
              <a:t>SLIDE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System Architecture &amp;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03520" cy="146304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0800" cy="14630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Calibri"/>
              </a:defRPr>
            </a:pPr>
            <a:r>
              <a:t>🖥️  Presentation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39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• Interactive Web Chat UI (index.html)</a:t>
            </a:r>
            <a:br/>
            <a:r>
              <a:t>• Moodle LMS Plugin Widget (planned)</a:t>
            </a:r>
            <a:br/>
            <a:r>
              <a:t>• Subject Scope Dropdown + Source Citations</a:t>
            </a:r>
            <a:br/>
            <a:r>
              <a:t>• REST API (Swagger at /docs)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71800"/>
            <a:ext cx="5303520" cy="146304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71800"/>
            <a:ext cx="50800" cy="1463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063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Calibri"/>
              </a:defRPr>
            </a:pPr>
            <a:r>
              <a:t>⚙️  Application / Logic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8328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• FastAPI Backend (main.py)</a:t>
            </a:r>
            <a:br/>
            <a:r>
              <a:t>• RAG Pipeline (rag_chain.py)</a:t>
            </a:r>
            <a:br/>
            <a:r>
              <a:t>• Data Preprocessing (prepare_data.py)</a:t>
            </a:r>
            <a:br/>
            <a:r>
              <a:t>• Ingestion Engine (ingest.py)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663440"/>
            <a:ext cx="5303520" cy="146304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663440"/>
            <a:ext cx="5080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75487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Calibri"/>
              </a:defRPr>
            </a:pPr>
            <a:r>
              <a:t>🗄️  Data / Storage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07492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• ChromaDB Vector Store (2,527 chunks)</a:t>
            </a:r>
            <a:br/>
            <a:r>
              <a:t>• Processed Corpus (data/processed/)</a:t>
            </a:r>
            <a:br/>
            <a:r>
              <a:t>• Moodle LMS (Docker: MariaDB + Moodle 4.4)</a:t>
            </a:r>
            <a:br/>
            <a:r>
              <a:t>• Evaluation Results (backend/results/)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alibri"/>
              </a:defRPr>
            </a:pPr>
            <a:r>
              <a:t>EXTERNAL INTEGRATIONS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645920"/>
            <a:ext cx="5303520" cy="91440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6916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1F5F9"/>
                </a:solidFill>
                <a:latin typeface="Calibri"/>
              </a:defRPr>
            </a:pPr>
            <a:r>
              <a:t>☁️  Groq Cloud Inference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011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Qwen 2.5 27B — high-speed LLM inference (~1.2s avg)</a:t>
            </a:r>
            <a:br/>
            <a:r>
              <a:t>OpenAI-compatible API. No local GPU required.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743200"/>
            <a:ext cx="5303520" cy="91440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788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1F5F9"/>
                </a:solidFill>
                <a:latin typeface="Calibri"/>
              </a:defRPr>
            </a:pPr>
            <a:r>
              <a:t>🐋  Docker Compose 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1089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Moodle 4.4 (Bitnami) on port 8080</a:t>
            </a:r>
            <a:br/>
            <a:r>
              <a:t>MariaDB 10.11 with health checks, persistent volumes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DATA FLOW 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2519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1. Student sends query via Web UI or Moodle plugin</a:t>
            </a:r>
          </a:p>
          <a:p>
            <a:pPr>
              <a:spcBef>
                <a:spcPts val="3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2. FastAPI receives request + optional subject scope</a:t>
            </a:r>
          </a:p>
          <a:p>
            <a:pPr>
              <a:spcBef>
                <a:spcPts val="3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3. Query embedded via Sentence-BERT (local)</a:t>
            </a:r>
          </a:p>
          <a:p>
            <a:pPr>
              <a:spcBef>
                <a:spcPts val="3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4. ChromaDB returns TOP_K=4 similar chunks</a:t>
            </a:r>
          </a:p>
          <a:p>
            <a:pPr>
              <a:spcBef>
                <a:spcPts val="3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5. Chunks assembled into context prompt</a:t>
            </a:r>
          </a:p>
          <a:p>
            <a:pPr>
              <a:spcBef>
                <a:spcPts val="3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6. Groq LLM generates grounded answer</a:t>
            </a:r>
          </a:p>
          <a:p>
            <a:pPr>
              <a:spcBef>
                <a:spcPts val="3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7. Response + source citations returned to student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66F1"/>
                </a:solidFill>
                <a:latin typeface="Calibri"/>
              </a:defRPr>
            </a:pPr>
            <a:r>
              <a:t>SLIDE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Technology Stack &amp;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2286000" cy="36576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  <a:latin typeface="Calibri"/>
              </a:defRPr>
            </a:pPr>
            <a:r>
              <a:t>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280160"/>
            <a:ext cx="2834640" cy="36576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298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280160"/>
            <a:ext cx="5577840" cy="36576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298448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  <a:latin typeface="Calibri"/>
              </a:defRPr>
            </a:pPr>
            <a:r>
              <a:t>Purpose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37360"/>
            <a:ext cx="2286000" cy="41148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  <a:latin typeface="Calibri"/>
              </a:defRPr>
            </a:pPr>
            <a:r>
              <a:t>Language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1737360"/>
            <a:ext cx="2834640" cy="41148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17830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t>Python 3.11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1737360"/>
            <a:ext cx="5577840" cy="41148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1783080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Core backend, data processing, RAG pipeline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194560"/>
            <a:ext cx="2286000" cy="411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24027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  <a:latin typeface="Calibri"/>
              </a:defRPr>
            </a:pPr>
            <a:r>
              <a:t>Web Framework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2194560"/>
            <a:ext cx="2834640" cy="411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2240279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t>FastAPI + Uvicorn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2194560"/>
            <a:ext cx="5577840" cy="411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2240279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REST API, auto Swagger docs, ASGI async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651760"/>
            <a:ext cx="2286000" cy="41148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69747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  <a:latin typeface="Calibri"/>
              </a:defRPr>
            </a:pPr>
            <a:r>
              <a:t>Vector Database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2651760"/>
            <a:ext cx="2834640" cy="41148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2697479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t>ChromaDB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0" y="2651760"/>
            <a:ext cx="5577840" cy="41148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2697479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Persistent vector store with metadata filtering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108960"/>
            <a:ext cx="2286000" cy="411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15467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  <a:latin typeface="Calibri"/>
              </a:defRPr>
            </a:pPr>
            <a:r>
              <a:t>Embedding Model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26080" y="3108960"/>
            <a:ext cx="2834640" cy="411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3154679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t>all-MiniLM-L6-v2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52160" y="3108960"/>
            <a:ext cx="5577840" cy="411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0" y="3154679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384-dim Sentence-BERT, ~90MB, local inference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566160"/>
            <a:ext cx="2286000" cy="41148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61187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  <a:latin typeface="Calibri"/>
              </a:defRPr>
            </a:pPr>
            <a:r>
              <a:t>LLM Inference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926080" y="3566160"/>
            <a:ext cx="2834640" cy="41148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17520" y="3611879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t>Groq (Qwen 2.5 27B)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52160" y="3566160"/>
            <a:ext cx="5577840" cy="41148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0" y="3611879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Cloud-hosted LLM, ~1.2s latency, OpenAI-compat API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4023360"/>
            <a:ext cx="2286000" cy="411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069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  <a:latin typeface="Calibri"/>
              </a:defRPr>
            </a:pPr>
            <a:r>
              <a:t>LMS Platform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926080" y="4023360"/>
            <a:ext cx="2834640" cy="411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17520" y="40690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t>Moodle 4.4 (Bitnami)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852160" y="4023360"/>
            <a:ext cx="5577840" cy="411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0" y="4069080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Learning Management System, Docker containerized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4480560"/>
            <a:ext cx="2286000" cy="41148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5262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  <a:latin typeface="Calibri"/>
              </a:defRPr>
            </a:pPr>
            <a:r>
              <a:t>Containerization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926080" y="4480560"/>
            <a:ext cx="2834640" cy="41148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17520" y="45262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t>Docker Compose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852160" y="4480560"/>
            <a:ext cx="5577840" cy="41148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0" y="4526280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Moodle + MariaDB 10.11, health checks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4937760"/>
            <a:ext cx="2286000" cy="411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49834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  <a:latin typeface="Calibri"/>
              </a:defRPr>
            </a:pPr>
            <a:r>
              <a:t>Data Processing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926080" y="4937760"/>
            <a:ext cx="2834640" cy="411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017520" y="4983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t>PyMuPDF, python-pptx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852160" y="4937760"/>
            <a:ext cx="5577840" cy="411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0" y="4983480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PDF/PPTX/DOCX text extraction with OCR fallback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8640" y="5394960"/>
            <a:ext cx="2286000" cy="41148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54406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926080" y="5394960"/>
            <a:ext cx="2834640" cy="41148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17520" y="54406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t>HTML/CSS/JS + marked.js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852160" y="5394960"/>
            <a:ext cx="5577840" cy="41148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43600" y="5440680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Responsive dark-mode chat UI, Markdown rendering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8640" y="5852160"/>
            <a:ext cx="2286000" cy="411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" y="5897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5F9"/>
                </a:solidFill>
                <a:latin typeface="Calibri"/>
              </a:defRPr>
            </a:pPr>
            <a:r>
              <a:t>Version Control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926080" y="5852160"/>
            <a:ext cx="2834640" cy="411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17520" y="58978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t>Git + GitHub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852160" y="5852160"/>
            <a:ext cx="5577840" cy="411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43600" y="5897880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github.com/Afroz-ali17/MoodleBot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66F1"/>
                </a:solidFill>
                <a:latin typeface="Calibri"/>
              </a:defRPr>
            </a:pPr>
            <a:r>
              <a:t>SLIDE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Partial Implementation &amp; Experimental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2468880" cy="82296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366F1"/>
                </a:solidFill>
                <a:latin typeface="Calibri"/>
              </a:defRPr>
            </a:pPr>
            <a:r>
              <a:t>2,527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Calibri"/>
              </a:defRPr>
            </a:pPr>
            <a:r>
              <a:t>Vector Chunks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234440"/>
            <a:ext cx="2468880" cy="82296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2618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366F1"/>
                </a:solidFill>
                <a:latin typeface="Calibri"/>
              </a:defRPr>
            </a:pPr>
            <a:r>
              <a:t>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691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Calibri"/>
              </a:defRPr>
            </a:pPr>
            <a:r>
              <a:t>Course 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2468880" cy="82296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2618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366F1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691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Calibri"/>
              </a:defRPr>
            </a:pPr>
            <a:r>
              <a:t>Subjects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234440"/>
            <a:ext cx="2468880" cy="82296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2618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366F1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691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Calibri"/>
              </a:defRPr>
            </a:pPr>
            <a:r>
              <a:t>Test Queries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286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alibri"/>
              </a:defRPr>
            </a:pPr>
            <a:r>
              <a:t>ACCURACY PROGRESSION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Calibri"/>
              </a:defRPr>
            </a:pPr>
            <a:r>
              <a:t>Abstract 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2697479"/>
            <a:ext cx="8686800" cy="32004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651760" y="2697479"/>
            <a:ext cx="7644383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56064" y="270662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1F5F9"/>
                </a:solidFill>
                <a:latin typeface="Calibri"/>
              </a:defRPr>
            </a:pPr>
            <a:r>
              <a:t>88.0%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200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Calibri"/>
              </a:defRPr>
            </a:pPr>
            <a:r>
              <a:t>Baseline (Pre-Tune)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3246120"/>
            <a:ext cx="8686800" cy="32004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651760" y="3246120"/>
            <a:ext cx="7792059" cy="32004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03739" y="325526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1F5F9"/>
                </a:solidFill>
                <a:latin typeface="Calibri"/>
              </a:defRPr>
            </a:pPr>
            <a:r>
              <a:t>89.7%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7490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Calibri"/>
              </a:defRPr>
            </a:pPr>
            <a:r>
              <a:t>Final (Post-Tune)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3794759"/>
            <a:ext cx="8686800" cy="32004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651760" y="3794759"/>
            <a:ext cx="808741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99090" y="3803903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1F5F9"/>
                </a:solidFill>
                <a:latin typeface="Calibri"/>
              </a:defRPr>
            </a:pPr>
            <a:r>
              <a:t>93.1%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389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PER-TOPIC ACCURACY (POST-TUNING)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709160"/>
            <a:ext cx="2560320" cy="27432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709160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1F5F9"/>
                </a:solidFill>
                <a:latin typeface="Calibri"/>
              </a:defRPr>
            </a:pPr>
            <a:r>
              <a:t>Topic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0" y="4709160"/>
            <a:ext cx="1280160" cy="27432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1840" y="4709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1F5F9"/>
                </a:solidFill>
                <a:latin typeface="Calibri"/>
              </a:defRPr>
            </a:pPr>
            <a:r>
              <a:t>Count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4709160"/>
            <a:ext cx="1645920" cy="27432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0" y="4709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1F5F9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029200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Introduction DBMS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50292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502920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303520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ER Diagrams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530352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530352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577840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Relational Algebra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0" y="55778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557784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5852160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Normalization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58521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585216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Calibri"/>
              </a:defRPr>
            </a:pPr>
            <a:r>
              <a:t>83.3%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126480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Transactions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1840" y="61264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61264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Calibri"/>
              </a:defRPr>
            </a:pPr>
            <a:r>
              <a:t>85.7%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6400800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General DBMS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91840" y="64008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640080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6675120"/>
            <a:ext cx="2377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1F5F9"/>
                </a:solidFill>
                <a:latin typeface="Calibri"/>
              </a:defRPr>
            </a:pPr>
            <a:r>
              <a:t>OVERALL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91840" y="667512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667512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66F1"/>
                </a:solidFill>
                <a:latin typeface="Calibri"/>
              </a:defRPr>
            </a:pPr>
            <a:r>
              <a:t>93.1%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alibri"/>
              </a:defRPr>
            </a:pPr>
            <a:r>
              <a:t>KEY TUNING ACTIONS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0" y="475488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▸  Chunk size reduced: 250 → 200 words + 40w overlap</a:t>
            </a:r>
          </a:p>
          <a:p>
            <a:pPr>
              <a:spcBef>
                <a:spcPts val="4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▸  System prompt strengthened: structured Markdown, context-only</a:t>
            </a:r>
          </a:p>
          <a:p>
            <a:pPr>
              <a:spcBef>
                <a:spcPts val="4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▸  Subject-scoped retrieval: prevents cross-course contamination</a:t>
            </a:r>
          </a:p>
          <a:p>
            <a:pPr>
              <a:spcBef>
                <a:spcPts val="4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▸  LLM upgraded: groq/compound → Qwen 2.5 27B</a:t>
            </a:r>
          </a:p>
          <a:p>
            <a:pPr>
              <a:spcBef>
                <a:spcPts val="4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▸  Hallucination rate: eliminated (6.9% → 0%)</a:t>
            </a:r>
          </a:p>
          <a:p>
            <a:pPr>
              <a:spcBef>
                <a:spcPts val="4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▸  Average latency improved: 1.84s → 1.21s (-34%)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66F1"/>
                </a:solidFill>
                <a:latin typeface="Calibri"/>
              </a:defRPr>
            </a:pPr>
            <a:r>
              <a:t>SLIDE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Evaluation Strategy &amp; Project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alibri"/>
              </a:defRPr>
            </a:pPr>
            <a:r>
              <a:t>EVALUATION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03520" cy="96012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1F5F9"/>
                </a:solidFill>
                <a:latin typeface="Calibri"/>
              </a:defRPr>
            </a:pPr>
            <a:r>
              <a:t>📋  Ground-Truth Benchmark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29-question syllabus-aligned test suite with standardized rubric. Expanding to all 18 subjects.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5303520" cy="96012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3463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1F5F9"/>
                </a:solidFill>
                <a:latin typeface="Calibri"/>
              </a:defRPr>
            </a:pPr>
            <a:r>
              <a:t>⚙️  Automated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54679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evaluate.py runs all queries with rate-limiting. score.py computes strict/lenient accuracy.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303520" cy="96012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7763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1F5F9"/>
                </a:solidFill>
                <a:latin typeface="Calibri"/>
              </a:defRPr>
            </a:pPr>
            <a:r>
              <a:t>📊  TAM Survey (Planned)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Technology Acceptance Model questionnaire for 50+ RGMCET students.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074920"/>
            <a:ext cx="5303520" cy="960120"/>
          </a:xfrm>
          <a:prstGeom prst="roundRect">
            <a:avLst/>
          </a:prstGeom>
          <a:solidFill>
            <a:srgbClr val="1A204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1206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1F5F9"/>
                </a:solidFill>
                <a:latin typeface="Calibri"/>
              </a:defRPr>
            </a:pPr>
            <a:r>
              <a:t>🔄  Iterative 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406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Each tuning cycle produces dated CSV. compare_runs.py generates before/after reports.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10-WEEK PROJECT ROADMAP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0" y="1691640"/>
            <a:ext cx="274320" cy="274320"/>
          </a:xfrm>
          <a:prstGeom prst="ellipse">
            <a:avLst/>
          </a:prstGeom>
          <a:solidFill>
            <a:srgbClr val="6366F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70992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1F5F9"/>
                </a:solidFill>
                <a:latin typeface="Calibri"/>
              </a:defRPr>
            </a:pPr>
            <a:r>
              <a:t>W1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Moodle Docker Setup</a:t>
            </a:r>
          </a:p>
        </p:txBody>
      </p:sp>
      <p:sp>
        <p:nvSpPr>
          <p:cNvPr id="22" name="Oval 21"/>
          <p:cNvSpPr/>
          <p:nvPr/>
        </p:nvSpPr>
        <p:spPr>
          <a:xfrm>
            <a:off x="8961120" y="1691640"/>
            <a:ext cx="274320" cy="274320"/>
          </a:xfrm>
          <a:prstGeom prst="ellipse">
            <a:avLst/>
          </a:prstGeom>
          <a:solidFill>
            <a:srgbClr val="6366F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170992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1F5F9"/>
                </a:solidFill>
                <a:latin typeface="Calibri"/>
              </a:defRPr>
            </a:pPr>
            <a:r>
              <a:t>W2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Data Preprocessing</a:t>
            </a:r>
          </a:p>
        </p:txBody>
      </p:sp>
      <p:sp>
        <p:nvSpPr>
          <p:cNvPr id="25" name="Oval 24"/>
          <p:cNvSpPr/>
          <p:nvPr/>
        </p:nvSpPr>
        <p:spPr>
          <a:xfrm>
            <a:off x="6217920" y="2560320"/>
            <a:ext cx="274320" cy="274320"/>
          </a:xfrm>
          <a:prstGeom prst="ellipse">
            <a:avLst/>
          </a:prstGeom>
          <a:solidFill>
            <a:srgbClr val="6366F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257860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1F5F9"/>
                </a:solidFill>
                <a:latin typeface="Calibri"/>
              </a:defRPr>
            </a:pPr>
            <a:r>
              <a:t>W3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59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RAG Pipeline &amp; API</a:t>
            </a:r>
          </a:p>
        </p:txBody>
      </p:sp>
      <p:sp>
        <p:nvSpPr>
          <p:cNvPr id="28" name="Oval 27"/>
          <p:cNvSpPr/>
          <p:nvPr/>
        </p:nvSpPr>
        <p:spPr>
          <a:xfrm>
            <a:off x="8961120" y="2560320"/>
            <a:ext cx="274320" cy="274320"/>
          </a:xfrm>
          <a:prstGeom prst="ellipse">
            <a:avLst/>
          </a:prstGeom>
          <a:solidFill>
            <a:srgbClr val="6366F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257860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1F5F9"/>
                </a:solidFill>
                <a:latin typeface="Calibri"/>
              </a:defRPr>
            </a:pPr>
            <a:r>
              <a:t>W4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Evaluation &amp; Tuning</a:t>
            </a:r>
          </a:p>
        </p:txBody>
      </p:sp>
      <p:sp>
        <p:nvSpPr>
          <p:cNvPr id="31" name="Oval 30"/>
          <p:cNvSpPr/>
          <p:nvPr/>
        </p:nvSpPr>
        <p:spPr>
          <a:xfrm>
            <a:off x="6217920" y="3429000"/>
            <a:ext cx="274320" cy="274320"/>
          </a:xfrm>
          <a:prstGeom prst="ellipse">
            <a:avLst/>
          </a:prstGeom>
          <a:solidFill>
            <a:srgbClr val="10B98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344728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1F5F9"/>
                </a:solidFill>
                <a:latin typeface="Calibri"/>
              </a:defRPr>
            </a:pPr>
            <a:r>
              <a:t>W5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59" y="3429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Moodle Plugin</a:t>
            </a:r>
          </a:p>
        </p:txBody>
      </p:sp>
      <p:sp>
        <p:nvSpPr>
          <p:cNvPr id="34" name="Oval 33"/>
          <p:cNvSpPr/>
          <p:nvPr/>
        </p:nvSpPr>
        <p:spPr>
          <a:xfrm>
            <a:off x="8961120" y="3429000"/>
            <a:ext cx="274320" cy="274320"/>
          </a:xfrm>
          <a:prstGeom prst="ellipse">
            <a:avLst/>
          </a:prstGeom>
          <a:solidFill>
            <a:srgbClr val="1A2040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0" y="344728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1F5F9"/>
                </a:solidFill>
                <a:latin typeface="Calibri"/>
              </a:defRPr>
            </a:pPr>
            <a:r>
              <a:t>W6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3429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User Testing &amp; TAM</a:t>
            </a:r>
          </a:p>
        </p:txBody>
      </p:sp>
      <p:sp>
        <p:nvSpPr>
          <p:cNvPr id="37" name="Oval 36"/>
          <p:cNvSpPr/>
          <p:nvPr/>
        </p:nvSpPr>
        <p:spPr>
          <a:xfrm>
            <a:off x="6217920" y="4297679"/>
            <a:ext cx="274320" cy="274320"/>
          </a:xfrm>
          <a:prstGeom prst="ellipse">
            <a:avLst/>
          </a:prstGeom>
          <a:solidFill>
            <a:srgbClr val="1A2040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431596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1F5F9"/>
                </a:solidFill>
                <a:latin typeface="Calibri"/>
              </a:defRPr>
            </a:pPr>
            <a:r>
              <a:t>W7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59" y="4297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Multi-Subject QA</a:t>
            </a:r>
          </a:p>
        </p:txBody>
      </p:sp>
      <p:sp>
        <p:nvSpPr>
          <p:cNvPr id="40" name="Oval 39"/>
          <p:cNvSpPr/>
          <p:nvPr/>
        </p:nvSpPr>
        <p:spPr>
          <a:xfrm>
            <a:off x="8961120" y="4297679"/>
            <a:ext cx="274320" cy="274320"/>
          </a:xfrm>
          <a:prstGeom prst="ellipse">
            <a:avLst/>
          </a:prstGeom>
          <a:solidFill>
            <a:srgbClr val="1A2040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0" y="431596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1F5F9"/>
                </a:solidFill>
                <a:latin typeface="Calibri"/>
              </a:defRPr>
            </a:pPr>
            <a:r>
              <a:t>W8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4297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Analytics &amp; Dashboards</a:t>
            </a:r>
          </a:p>
        </p:txBody>
      </p:sp>
      <p:sp>
        <p:nvSpPr>
          <p:cNvPr id="43" name="Oval 42"/>
          <p:cNvSpPr/>
          <p:nvPr/>
        </p:nvSpPr>
        <p:spPr>
          <a:xfrm>
            <a:off x="6217920" y="5166359"/>
            <a:ext cx="274320" cy="274320"/>
          </a:xfrm>
          <a:prstGeom prst="ellipse">
            <a:avLst/>
          </a:prstGeom>
          <a:solidFill>
            <a:srgbClr val="1A2040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518464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1F5F9"/>
                </a:solidFill>
                <a:latin typeface="Calibri"/>
              </a:defRPr>
            </a:pPr>
            <a:r>
              <a:t>W9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59" y="516635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Final Report &amp; Paper</a:t>
            </a:r>
          </a:p>
        </p:txBody>
      </p:sp>
      <p:sp>
        <p:nvSpPr>
          <p:cNvPr id="46" name="Oval 45"/>
          <p:cNvSpPr/>
          <p:nvPr/>
        </p:nvSpPr>
        <p:spPr>
          <a:xfrm>
            <a:off x="8961120" y="5166359"/>
            <a:ext cx="274320" cy="274320"/>
          </a:xfrm>
          <a:prstGeom prst="ellipse">
            <a:avLst/>
          </a:prstGeom>
          <a:solidFill>
            <a:srgbClr val="1A2040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20" y="518464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1F5F9"/>
                </a:solidFill>
                <a:latin typeface="Calibri"/>
              </a:defRPr>
            </a:pPr>
            <a:r>
              <a:t>W10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60" y="516635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Final Defense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5486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IMMEDIATE NEXT STEPS (WEEKS 5-6)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57607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defRPr sz="900" b="0">
                <a:solidFill>
                  <a:srgbClr val="94A3B8"/>
                </a:solidFill>
                <a:latin typeface="Calibri"/>
              </a:defRPr>
            </a:pPr>
            <a:r>
              <a:t>▸  Develop Moodle block plugin (PHP + JS)</a:t>
            </a:r>
          </a:p>
          <a:p>
            <a:pPr>
              <a:spcBef>
                <a:spcPts val="200"/>
              </a:spcBef>
              <a:defRPr sz="900" b="0">
                <a:solidFill>
                  <a:srgbClr val="94A3B8"/>
                </a:solidFill>
                <a:latin typeface="Calibri"/>
              </a:defRPr>
            </a:pPr>
            <a:r>
              <a:t>▸  Auto-pass course context to /chat endpoint</a:t>
            </a:r>
          </a:p>
          <a:p>
            <a:pPr>
              <a:spcBef>
                <a:spcPts val="200"/>
              </a:spcBef>
              <a:defRPr sz="900" b="0">
                <a:solidFill>
                  <a:srgbClr val="94A3B8"/>
                </a:solidFill>
                <a:latin typeface="Calibri"/>
              </a:defRPr>
            </a:pPr>
            <a:r>
              <a:t>▸  Expand evaluation to NLP, Java, Python, Quantum</a:t>
            </a:r>
          </a:p>
          <a:p>
            <a:pPr>
              <a:spcBef>
                <a:spcPts val="200"/>
              </a:spcBef>
              <a:defRPr sz="900" b="0">
                <a:solidFill>
                  <a:srgbClr val="94A3B8"/>
                </a:solidFill>
                <a:latin typeface="Calibri"/>
              </a:defRPr>
            </a:pPr>
            <a:r>
              <a:t>▸  Deploy TAM survey to 50+ students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